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868" r:id="rId1"/>
    <p:sldMasterId id="2147484869" r:id="rId2"/>
    <p:sldMasterId id="2147484870" r:id="rId3"/>
    <p:sldMasterId id="2147484871" r:id="rId4"/>
  </p:sldMasterIdLst>
  <p:sldIdLst>
    <p:sldId id="292" r:id="rId5"/>
    <p:sldId id="268" r:id="rId6"/>
    <p:sldId id="269" r:id="rId7"/>
    <p:sldId id="270" r:id="rId8"/>
    <p:sldId id="284" r:id="rId9"/>
    <p:sldId id="271" r:id="rId10"/>
    <p:sldId id="273" r:id="rId11"/>
    <p:sldId id="272" r:id="rId12"/>
    <p:sldId id="276" r:id="rId13"/>
    <p:sldId id="274" r:id="rId14"/>
    <p:sldId id="275" r:id="rId15"/>
    <p:sldId id="278" r:id="rId16"/>
    <p:sldId id="279" r:id="rId17"/>
    <p:sldId id="277" r:id="rId18"/>
    <p:sldId id="282" r:id="rId19"/>
    <p:sldId id="280" r:id="rId20"/>
    <p:sldId id="285" r:id="rId21"/>
    <p:sldId id="286" r:id="rId22"/>
    <p:sldId id="288" r:id="rId23"/>
    <p:sldId id="289" r:id="rId24"/>
    <p:sldId id="290" r:id="rId25"/>
    <p:sldId id="291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B61A85-0B89-45AF-B294-EB9236F67B4C}" v="16" dt="2025-09-17T08:51:02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2" autoAdjust="0"/>
    <p:restoredTop sz="94660"/>
  </p:normalViewPr>
  <p:slideViewPr>
    <p:cSldViewPr snapToGrid="0" snapToObjects="1">
      <p:cViewPr varScale="1">
        <p:scale>
          <a:sx n="162" d="100"/>
          <a:sy n="162" d="100"/>
        </p:scale>
        <p:origin x="239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6" units="1/cm"/>
          <inkml:channelProperty channel="Y" name="resolution" value="40" units="1/cm"/>
        </inkml:channelProperties>
      </inkml:inkSource>
      <inkml:timestamp xml:id="ts0" timeString="2025-09-22T01:06:57.515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</inkml:brush>
  </inkml:definitions>
  <inkml:trace contextRef="#ctx0" brushRef="#br0">0 0,'0'13,"13"-13,-13 14,14 0,0 0,0 0,14 0,-14 0,14 0,0 0,0 0,-1 14,1-14,-14-1,28 1,-14 0,-14 0,27 0,-27 14,14-14,0 0,0-14,0 28,0-14,0 0,-1-1,1 15,0-14,0 0,0 0,-14 0,14 0,-1 0,-13 0,0 0,14 0,-14 0,0 0,14-1,0 1,0 0,-15 14,15-14,0 0,-14 14,14-14,-14 0,0 0,14 13,-14-13,-1 14,15-14,-14 0,0 0,14 0,-14 0,0 0,0 0,14 14,-14-14,-1-14,15 13,-14 15,14-14,0-14,-14 14,14 14,0-14,-1 0,1 14,0-14,0 0,14 13,-14-13,-1 0,1 14,0-14,0 0,14 14,-28-14,14 0,-1 13,1-13,-14 0,14 0,-14 14,14-14,0 0,-14 14,13-14,1 0,-14 14,0-15,14 1,-14 0,0 0,14 0,-14 0,13 14,1-14,-14 0,0-14,0 28,0-14,14-14,-14 13,0 15,14-14,-1 0,-13 0,0 0,14 0,-28 0,14 0,14 0,-14 0,0 0,0 0,14-1,-15 15,15-28,0 28,-14-14,14 0,-14 0,0 14,14-14,-14 0,13 13,1-13,-14 0,14 0,0 0,0 0,-14 14,14-14,-1 14,-13-14,28 13,-28-13,14 0,0 0,0 14,-1-14,1 0,0 14,14-14,-28 14,14-14,0-1,-15 1,29 14,-28-14,0 0,14 14,-14-14,14 14,0-14,-1 13,1 1,0-14,0 0,-14 14,14-14,-14 0,14-14,-15 28,15-14,0 0,-14 0,0-1,14 1,-14 0,0 0,0 0,13 0,-13 0,28 14,-28-14,0 0,14 0,0 0,0-1,-14 1,13 0,1 0,-14 0,14 0,-14 0,14 0,-14 0,14-14,-15 14,1 0,14 0,-14 0,14-1,-14 1,14 0,0 0,-14 0,13 0,-13 0,0 0,14 0,0 0,0-14,-14 28,14-28,-14 14,-1 0,1-1,14 1,-14 0,0-14,14 14,0 14,-14-14,14-14,-15 14,15 0,-14 0,14 0,0 0,-14 0,14-1,0 1,-14 0,13-14,-13 14,0-14,0 14,0 0,0-14,0 0,-14 14,14-14,0 0,-14 14,14-14,-14 14,14-14,-14 14,14-14,-14 14,13-14,1 0,-14 14,0-14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6" units="1/cm"/>
          <inkml:channelProperty channel="Y" name="resolution" value="40" units="1/cm"/>
        </inkml:channelProperties>
      </inkml:inkSource>
      <inkml:timestamp xml:id="ts0" timeString="2025-09-22T01:06:57.516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</inkml:brush>
  </inkml:definitions>
  <inkml:trace contextRef="#ctx0" brushRef="#br0">0 4177,'0'-14,"0"0,0 0,13-13,-13-1,0 0,0 0,0 0,14 0,-14 0,0 1,0-15,14 14,-14 0,14-14,-14 14,14 1,0-15,-14 14,14-14,-14 14,0 0,14 1,-14-1,14 0,0 0,-14 0,0-14,14 15,-14-15,0 14,0-14,14 14,-14 0,0 1,0-1,14 0,-1 0,-13-14,0 14,0 1,0-1,0 0,0 0,0-14,0 28,14-27,-14 27,0-28,0 28,0-28,0 28,0-14,14 1,-14-1,0 0,0-14,0 28,0-14,0 0,0 15,0-15,0 14,0 0,0-14,0 14,0 0,14-14,-14 14,0 0,14-13,-14 13,0-14,0 0,14 14,-14 0,0-14,14 14,-14-14,0 15,14-15,-14 0,14 14,-14-14,14 14,-14-14,0 0,14 15,0-15,0 0,-14 0,13 14,-13-14,14 0,-14 0,14 1,0-1,-14 0,0 0,0 14,14-28,-14 28,0-13,0-1,0 0,0 0,0 0,14 0,-14 0,0 1,0-1,14 0,-14 14,0-14,14 14,-14-14,0 1,0-1,0 0,0 0,0 0,0 0,0 14,14 0,-14-13,0-1,0 14,0-14,0 14,0-14,0 0,0 14,0 0,0-13,0 13,0 0,0-14,0 14,0 0,0-14,0 14,0 0,0-13,0 13,0 0,0-14,0 14,0 0,0-14,0 14,0 0,0 0,0-14,14 15,-14-1,0 0,0-14,0 14,0 0,0-14,0 14,14 0,-14 0,0 0,0 1,0-1,0 0,0 0,0 0,14 0,-14 0,0 0,14 0,-14 0,0 0,0 0,0 0,14 14,-14-13,0 13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6" units="1/cm"/>
          <inkml:channelProperty channel="Y" name="resolution" value="40" units="1/cm"/>
        </inkml:channelProperties>
      </inkml:inkSource>
      <inkml:timestamp xml:id="ts0" timeString="2025-09-22T01:06:57.517"/>
    </inkml:context>
    <inkml:brush xml:id="br0">
      <inkml:brushProperty name="width" value="0.03528" units="cm"/>
      <inkml:brushProperty name="height" value="0.03528" units="cm"/>
      <inkml:brushProperty name="color" value="#FF0000"/>
      <inkml:brushProperty name="fitToCurve" value="1"/>
    </inkml:brush>
  </inkml:definitions>
  <inkml:trace contextRef="#ctx0" brushRef="#br0">0 2659,'13'0,"15"0,0-14,28 0,-42 0,28 1,13-15,29 0,-15 14,15 0,69-14,-125 14,28 0,13 0,1-13,-14 13,13-14,-55 28,14-14,97-28,-111 28,28 0,56-42,-85 43,85-15,-42 0,83-28,-83 42,-1 0,-41 14,28-28,14 15,-14-15,27 0,-13-14,-28 28,55-28,-13 15,-56 27,83-56,-55 28,42-42,-57 56,-13 0,42-13,0 13,-14-14,13 0,43-28,-84 56,14-14,13-13,1-1,14 0,-1 0,-41 28,14-14,98-28,-113 28,15 0,70-41,-1 13,-83 42,14-14,42-14,-15 14,-27 0,42-14,-14 15,41-1,-69 0,28 14,-42 0,41-14,15-14,-42 14,-14 14,83-42,-55 28,0 0,-42 0,28 14,-1-13,15-1,-14 0,14 0,13-14,-27 14,14 0,42-28,-70 28,0 0,27 0,15-13,-14-1,13 0,-41 28,42-28,-14 14,-42 0,14 14,69-55,-55 55,-14-14,70-28,-70 42,69-42,-27 28,13-14,-41 28,-14-28,14 28,0-14,42-13,-29 13,-41 0,70-14,-28 0,41-14,-69 28,14 14,0-27,0 13,0 0,-14 14,0 0,55-28,-69 14,42 14,0-14,-28 14,-14-14,14 14,-1 0,1 0,-14-14,14 14,-14-14,14 14,0 0,-14-14,14 14,0 0,-14-14,14 14,0 0,0 0,-14-14,0 1,0 13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6D6CA5-DD7D-2D38-0633-8B2669DE3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779C5A7-AEAD-0CE0-C1E9-FCDEED81E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79F955-2AF1-BBBA-4D15-67B3DDAE0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B77D4-D40B-43CF-805C-38BC23455B0A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E1CB24-7206-0110-7F15-ACD23C130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E9C05F-A29F-2257-2006-81C922BB6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332C6-FC31-4AC4-B68D-20026A811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746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00C4F-A27E-0D62-D61B-98BFF663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56047C-1BF0-09C5-5131-7ACFEC31A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CCF2F1-1594-6F04-06B7-16721B94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B77D4-D40B-43CF-805C-38BC23455B0A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160A70-1995-4E09-9200-2D18CE197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986B43-BE9A-C6A5-95D5-D5733E8B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332C6-FC31-4AC4-B68D-20026A811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678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87187D-EA5E-CC76-AFF3-AC70DC013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31C08C-10E2-A408-3E3C-8329E9FB5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B17A3C-0422-49DA-C753-7AF03C4E4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B77D4-D40B-43CF-805C-38BC23455B0A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C16826-4DC8-2E29-C7E0-404CD6B05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DA5E77-6B41-DB99-8D05-EE27E05A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332C6-FC31-4AC4-B68D-20026A811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825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8F3044-A18F-7339-52DB-A068D76E6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66DA93-5328-509D-CD2D-ED1E15CA72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658395-D48B-2DA2-DDDC-04D18E9197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E561C4-6337-FC48-1EAE-16D7B5D05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B77D4-D40B-43CF-805C-38BC23455B0A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980858-DE8C-9D46-66E6-661EB4504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A5DA69-2140-93B0-9F46-6F901BB94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332C6-FC31-4AC4-B68D-20026A811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2163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8453B-A8FF-BF0A-DAE5-AD6A0BC5B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480755-FB14-13C1-8B9D-95258BAF0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03C3CC-9021-4B17-1CD6-D2DA38880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E34B5BB-C7C5-1ABD-6A69-FA23CD75F8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F889A95-7655-AA35-41E4-F2759943B4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EE92709-519F-E4EC-FE54-EBDCFAA66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B77D4-D40B-43CF-805C-38BC23455B0A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831CA0B-5CE3-3975-4BD7-8FAC50E85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6F04443-686E-1E39-A6CB-5EBD45FA6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332C6-FC31-4AC4-B68D-20026A811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6071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23A1E2-03B5-EFCE-8A1C-59F79FB0B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D2CA4FC-59BF-3688-1224-2556A0BF4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B77D4-D40B-43CF-805C-38BC23455B0A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EA0569-BBF5-3C01-74EF-E4F134C7B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C1F6BF-7DB1-16BC-07E7-D0121BB52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332C6-FC31-4AC4-B68D-20026A811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216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E60605-54A4-48EB-54E8-011DDA95F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B77D4-D40B-43CF-805C-38BC23455B0A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CD01B6-403B-0AF3-C995-71B0620B2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A5B0B4-C994-46EE-69CE-368E3D3C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332C6-FC31-4AC4-B68D-20026A811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637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4E4F6-3B1B-930F-A77C-2D3763ED7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F841FD-1224-BDB7-E93B-5962FD866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E60846-7CC1-4E9F-52D2-35DC14874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8C3F53-7CBA-6903-85BE-D35AACE90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B77D4-D40B-43CF-805C-38BC23455B0A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973969-76AD-2B30-8BA2-29B645F3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2068C1-81D6-3858-C44D-CEF8CD6CE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332C6-FC31-4AC4-B68D-20026A811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196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DB0D1-09E4-F411-859F-EFBAB19B0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4964503-44BA-0B23-75D2-1E1A9B0738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BCDD33-6D47-AC4F-E909-F4B1430F0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2AD4FA-A403-85AB-0998-8FA306290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B77D4-D40B-43CF-805C-38BC23455B0A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CB0AE3-1AB1-6423-A3C3-5269D061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002C2A-FBA1-9413-5005-7CAA5F212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332C6-FC31-4AC4-B68D-20026A811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955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107F59-9CE8-A71E-D490-B33AF909C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3D70CB-25E0-DF1A-2A8E-9C06B6CB8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30C8FE-A11D-0F90-2967-3749DA82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B77D4-D40B-43CF-805C-38BC23455B0A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5B1602-4556-0D6A-C714-8B97EE64F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A002C2-E1C9-BCE3-3370-AA9E59AB0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332C6-FC31-4AC4-B68D-20026A811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151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FF580AD-E068-A494-6717-5807405DC6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2E7C38-4C5D-C429-002C-E203EBB9E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8B26F1-1349-B0CA-0FEB-8AC1DE74C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B77D4-D40B-43CF-805C-38BC23455B0A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73FDAD-5844-72F8-A85F-7859AA985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2A5E08-9C97-EB16-A5B7-235AA441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332C6-FC31-4AC4-B68D-20026A811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1286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1524000" y="1122680"/>
            <a:ext cx="9144635" cy="238823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1524000" y="3602355"/>
            <a:ext cx="9144635" cy="165608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클릭하여 마스터 부제목 스타일 편집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1850" y="1710055"/>
            <a:ext cx="10516235" cy="285305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831850" y="4589780"/>
            <a:ext cx="10516235" cy="150050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5182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6172200" y="1825625"/>
            <a:ext cx="5182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40105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840105" y="1681480"/>
            <a:ext cx="5158105" cy="824230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840105" y="2505075"/>
            <a:ext cx="5158105" cy="368554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6172200" y="1681480"/>
            <a:ext cx="5184140" cy="824230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6172200" y="2505075"/>
            <a:ext cx="5184140" cy="368554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40105" y="457200"/>
            <a:ext cx="3932555" cy="160083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5183505" y="987425"/>
            <a:ext cx="6172835" cy="487426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840105" y="2057400"/>
            <a:ext cx="3932555" cy="381254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40105" y="457200"/>
            <a:ext cx="3932555" cy="160083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5183505" y="987425"/>
            <a:ext cx="6172835" cy="4874260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840105" y="2057400"/>
            <a:ext cx="3932555" cy="381254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eaVert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8724900" y="365125"/>
            <a:ext cx="2629535" cy="5812790"/>
          </a:xfrm>
          <a:prstGeom prst="rect">
            <a:avLst/>
          </a:prstGeom>
        </p:spPr>
        <p:txBody>
          <a:bodyPr vert="eaVert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838200" y="365125"/>
            <a:ext cx="7734935" cy="5812790"/>
          </a:xfrm>
          <a:prstGeom prst="rect">
            <a:avLst/>
          </a:prstGeom>
        </p:spPr>
        <p:txBody>
          <a:bodyPr vert="eaVert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1524000" y="1122680"/>
            <a:ext cx="9144635" cy="238823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1524000" y="3602355"/>
            <a:ext cx="9144635" cy="165608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클릭하여 마스터 부제목 스타일 편집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1850" y="1710055"/>
            <a:ext cx="10516235" cy="285305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831850" y="4589780"/>
            <a:ext cx="10516235" cy="150050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5182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6172200" y="1825625"/>
            <a:ext cx="5182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40105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840105" y="1681480"/>
            <a:ext cx="5158105" cy="824230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840105" y="2505075"/>
            <a:ext cx="5158105" cy="368554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6172200" y="1681480"/>
            <a:ext cx="5184140" cy="824230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6172200" y="2505075"/>
            <a:ext cx="5184140" cy="368554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40105" y="457200"/>
            <a:ext cx="3932555" cy="160083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5183505" y="987425"/>
            <a:ext cx="6172835" cy="487426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840105" y="2057400"/>
            <a:ext cx="3932555" cy="381254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40105" y="457200"/>
            <a:ext cx="3932555" cy="160083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5183505" y="987425"/>
            <a:ext cx="6172835" cy="4874260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840105" y="2057400"/>
            <a:ext cx="3932555" cy="381254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eaVert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8724900" y="365125"/>
            <a:ext cx="2629535" cy="5812790"/>
          </a:xfrm>
          <a:prstGeom prst="rect">
            <a:avLst/>
          </a:prstGeom>
        </p:spPr>
        <p:txBody>
          <a:bodyPr vert="eaVert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838200" y="365125"/>
            <a:ext cx="7734935" cy="5812790"/>
          </a:xfrm>
          <a:prstGeom prst="rect">
            <a:avLst/>
          </a:prstGeom>
        </p:spPr>
        <p:txBody>
          <a:bodyPr vert="eaVert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1524000" y="1122680"/>
            <a:ext cx="9144635" cy="238823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1524000" y="3602355"/>
            <a:ext cx="9144635" cy="165608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클릭하여 마스터 부제목 스타일 편집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1850" y="1710055"/>
            <a:ext cx="10516235" cy="285305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831850" y="4589780"/>
            <a:ext cx="10516235" cy="150050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5182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6172200" y="1825625"/>
            <a:ext cx="5182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40105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840105" y="1681480"/>
            <a:ext cx="5158105" cy="824230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840105" y="2505075"/>
            <a:ext cx="5158105" cy="368554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6172200" y="1681480"/>
            <a:ext cx="5184140" cy="824230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6172200" y="2505075"/>
            <a:ext cx="5184140" cy="368554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40105" y="457200"/>
            <a:ext cx="3932555" cy="160083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5183505" y="987425"/>
            <a:ext cx="6172835" cy="487426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840105" y="2057400"/>
            <a:ext cx="3932555" cy="381254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40105" y="457200"/>
            <a:ext cx="3932555" cy="160083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5183505" y="987425"/>
            <a:ext cx="6172835" cy="4874260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840105" y="2057400"/>
            <a:ext cx="3932555" cy="381254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eaVert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8724900" y="365125"/>
            <a:ext cx="2629535" cy="5812790"/>
          </a:xfrm>
          <a:prstGeom prst="rect">
            <a:avLst/>
          </a:prstGeom>
        </p:spPr>
        <p:txBody>
          <a:bodyPr vert="eaVert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838200" y="365125"/>
            <a:ext cx="7734935" cy="5812790"/>
          </a:xfrm>
          <a:prstGeom prst="rect">
            <a:avLst/>
          </a:prstGeom>
        </p:spPr>
        <p:txBody>
          <a:bodyPr vert="eaVert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36DBB67-1AC1-AA34-BB4B-6EF605D1E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FA6E51-1D44-4FA3-D5EB-E286BE8C6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77FF68-0E3F-B186-5EC0-C016FF1D43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EB77D4-D40B-43CF-805C-38BC23455B0A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046545-D804-534F-3D72-4D0E55D96C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4F973A-894B-540D-ED25-86A555C0A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332C6-FC31-4AC4-B68D-20026A8110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287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9" r:id="rId1"/>
    <p:sldLayoutId id="2147484820" r:id="rId2"/>
    <p:sldLayoutId id="2147484821" r:id="rId3"/>
    <p:sldLayoutId id="2147484822" r:id="rId4"/>
    <p:sldLayoutId id="2147484823" r:id="rId5"/>
    <p:sldLayoutId id="2147484824" r:id="rId6"/>
    <p:sldLayoutId id="2147484825" r:id="rId7"/>
    <p:sldLayoutId id="2147484826" r:id="rId8"/>
    <p:sldLayoutId id="2147484827" r:id="rId9"/>
    <p:sldLayoutId id="2147484828" r:id="rId10"/>
    <p:sldLayoutId id="2147484829" r:id="rId11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0" r:id="rId1"/>
    <p:sldLayoutId id="2147484831" r:id="rId2"/>
    <p:sldLayoutId id="2147484832" r:id="rId3"/>
    <p:sldLayoutId id="2147484833" r:id="rId4"/>
    <p:sldLayoutId id="2147484834" r:id="rId5"/>
    <p:sldLayoutId id="2147484835" r:id="rId6"/>
    <p:sldLayoutId id="2147484836" r:id="rId7"/>
    <p:sldLayoutId id="2147484837" r:id="rId8"/>
    <p:sldLayoutId id="2147484838" r:id="rId9"/>
    <p:sldLayoutId id="2147484839" r:id="rId10"/>
    <p:sldLayoutId id="2147484840" r:id="rId11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 편집</a:t>
            </a:r>
          </a:p>
          <a:p>
            <a:pPr marL="685800" lvl="1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둘째 수준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셋째 수준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넷째 수준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다섯째 수준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8382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>
                <a:latin typeface="맑은 고딕" charset="0"/>
                <a:ea typeface="맑은 고딕" charset="0"/>
                <a:sym typeface="맑은 고딕" charset="0"/>
              </a:rPr>
              <a:t>2025-09-22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4038600" y="6356350"/>
            <a:ext cx="41154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8610600" y="6356350"/>
            <a:ext cx="27438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41" r:id="rId1"/>
    <p:sldLayoutId id="2147484842" r:id="rId2"/>
    <p:sldLayoutId id="2147484843" r:id="rId3"/>
    <p:sldLayoutId id="2147484844" r:id="rId4"/>
    <p:sldLayoutId id="2147484845" r:id="rId5"/>
    <p:sldLayoutId id="2147484846" r:id="rId6"/>
    <p:sldLayoutId id="2147484847" r:id="rId7"/>
    <p:sldLayoutId id="2147484848" r:id="rId8"/>
    <p:sldLayoutId id="2147484849" r:id="rId9"/>
    <p:sldLayoutId id="2147484850" r:id="rId10"/>
    <p:sldLayoutId id="2147484851" r:id="rId11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fImage6396441153.emf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fImage75964403902.emf"/><Relationship Id="rId5" Type="http://schemas.openxmlformats.org/officeDocument/2006/relationships/customXml" Target="../ink/ink2.xml"/><Relationship Id="rId4" Type="http://schemas.openxmlformats.org/officeDocument/2006/relationships/image" Target="../media/fImage103564394604.emf"/><Relationship Id="rId9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hyperlink" Target="https://ttwong12.github.io/papers/isocube/isocube.html" TargetMode="Externa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36.png"/><Relationship Id="rId4" Type="http://schemas.openxmlformats.org/officeDocument/2006/relationships/hyperlink" Target="https://learnopengl.com/Advanced-OpenGL/Cubemaps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15294F1-19E7-48CF-A355-C16C7CBBC34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 b="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9ECB3C9-19E1-4084-B7D6-6B244CEA3B5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45"/>
                    </a14:imgEffect>
                    <a14:imgEffect>
                      <a14:sharpenSoften amount="-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581" t="71884" r="35411" b="18671"/>
          <a:stretch/>
        </p:blipFill>
        <p:spPr>
          <a:xfrm>
            <a:off x="4459605" y="5096510"/>
            <a:ext cx="3415030" cy="719455"/>
          </a:xfrm>
          <a:custGeom>
            <a:avLst/>
            <a:gdLst>
              <a:gd name="connsiteX0" fmla="*/ 119957 w 3414743"/>
              <a:gd name="connsiteY0" fmla="*/ 0 h 719721"/>
              <a:gd name="connsiteX1" fmla="*/ 3294787 w 3414743"/>
              <a:gd name="connsiteY1" fmla="*/ 0 h 719721"/>
              <a:gd name="connsiteX2" fmla="*/ 3414743 w 3414743"/>
              <a:gd name="connsiteY2" fmla="*/ 119956 h 719721"/>
              <a:gd name="connsiteX3" fmla="*/ 3414743 w 3414743"/>
              <a:gd name="connsiteY3" fmla="*/ 599765 h 719721"/>
              <a:gd name="connsiteX4" fmla="*/ 3294787 w 3414743"/>
              <a:gd name="connsiteY4" fmla="*/ 719721 h 719721"/>
              <a:gd name="connsiteX5" fmla="*/ 119957 w 3414743"/>
              <a:gd name="connsiteY5" fmla="*/ 719721 h 719721"/>
              <a:gd name="connsiteX6" fmla="*/ 0 w 3414743"/>
              <a:gd name="connsiteY6" fmla="*/ 599765 h 719721"/>
              <a:gd name="connsiteX7" fmla="*/ 0 w 3414743"/>
              <a:gd name="connsiteY7" fmla="*/ 119956 h 719721"/>
              <a:gd name="connsiteX8" fmla="*/ 119957 w 3414743"/>
              <a:gd name="connsiteY8" fmla="*/ 0 h 719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4743" h="719721">
                <a:moveTo>
                  <a:pt x="119957" y="0"/>
                </a:moveTo>
                <a:lnTo>
                  <a:pt x="3294787" y="0"/>
                </a:lnTo>
                <a:cubicBezTo>
                  <a:pt x="3361037" y="0"/>
                  <a:pt x="3414743" y="53706"/>
                  <a:pt x="3414743" y="119956"/>
                </a:cubicBezTo>
                <a:lnTo>
                  <a:pt x="3414743" y="599765"/>
                </a:lnTo>
                <a:cubicBezTo>
                  <a:pt x="3414743" y="666015"/>
                  <a:pt x="3361037" y="719721"/>
                  <a:pt x="3294787" y="719721"/>
                </a:cubicBezTo>
                <a:lnTo>
                  <a:pt x="119957" y="719721"/>
                </a:lnTo>
                <a:cubicBezTo>
                  <a:pt x="53706" y="719721"/>
                  <a:pt x="0" y="666015"/>
                  <a:pt x="0" y="599765"/>
                </a:cubicBezTo>
                <a:lnTo>
                  <a:pt x="0" y="119956"/>
                </a:lnTo>
                <a:cubicBezTo>
                  <a:pt x="0" y="53706"/>
                  <a:pt x="53706" y="0"/>
                  <a:pt x="119957" y="0"/>
                </a:cubicBezTo>
                <a:close/>
              </a:path>
            </a:pathLst>
          </a:custGeom>
          <a:ln w="3175">
            <a:solidFill>
              <a:schemeClr val="bg1">
                <a:alpha val="85000"/>
              </a:schemeClr>
            </a:solidFill>
          </a:ln>
        </p:spPr>
      </p:pic>
      <p:sp>
        <p:nvSpPr>
          <p:cNvPr id="3" name="부제목 2">
            <a:extLst>
              <a:ext uri="{FF2B5EF4-FFF2-40B4-BE49-F238E27FC236}">
                <a16:creationId xmlns:a16="http://schemas.microsoft.com/office/drawing/2014/main" id="{E767828E-E573-48EF-BB67-FF6672CCE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59605" y="5096510"/>
            <a:ext cx="3415030" cy="719455"/>
          </a:xfrm>
        </p:spPr>
        <p:txBody>
          <a:bodyPr anchor="ctr">
            <a:normAutofit/>
          </a:bodyPr>
          <a:lstStyle/>
          <a:p>
            <a:r>
              <a:rPr lang="en-US" altLang="ko-KR">
                <a:gradFill rotWithShape="1">
                  <a:gsLst>
                    <a:gs pos="21000">
                      <a:schemeClr val="tx1"/>
                    </a:gs>
                    <a:gs pos="84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- </a:t>
            </a:r>
            <a:r>
              <a:rPr lang="ko-KR" altLang="en-US"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 </a:t>
            </a:r>
            <a:r>
              <a:rPr lang="ko-KR" altLang="en-US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rgbClr val="A2466D"/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큐브맵 리소스 </a:t>
            </a:r>
            <a:r>
              <a:rPr lang="ko-KR" altLang="en-US">
                <a:gradFill rotWithShape="1">
                  <a:gsLst>
                    <a:gs pos="21000">
                      <a:schemeClr val="tx1"/>
                    </a:gs>
                    <a:gs pos="84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다루기</a:t>
            </a:r>
            <a:r>
              <a:rPr lang="ko-KR" altLang="en-US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rgbClr val="A2466D"/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 </a:t>
            </a:r>
            <a:r>
              <a:rPr lang="en-US" altLang="ko-KR">
                <a:gradFill rotWithShape="1">
                  <a:gsLst>
                    <a:gs pos="21000">
                      <a:schemeClr val="tx1"/>
                    </a:gs>
                    <a:gs pos="84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-</a:t>
            </a:r>
            <a:r>
              <a:rPr lang="ko-KR" altLang="en-US">
                <a:solidFill>
                  <a:schemeClr val="accent1"/>
                </a:soli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 </a:t>
            </a:r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C583699-E232-48A7-AABC-CF08B3BF2FC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45"/>
                    </a14:imgEffect>
                    <a14:imgEffect>
                      <a14:sharpenSoften amount="-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008" t="14677" r="10008" b="50000"/>
          <a:stretch/>
        </p:blipFill>
        <p:spPr>
          <a:xfrm>
            <a:off x="1220470" y="737235"/>
            <a:ext cx="9751695" cy="2691765"/>
          </a:xfrm>
          <a:custGeom>
            <a:avLst/>
            <a:gdLst>
              <a:gd name="connsiteX0" fmla="*/ 448606 w 9751634"/>
              <a:gd name="connsiteY0" fmla="*/ 0 h 2691581"/>
              <a:gd name="connsiteX1" fmla="*/ 9303028 w 9751634"/>
              <a:gd name="connsiteY1" fmla="*/ 0 h 2691581"/>
              <a:gd name="connsiteX2" fmla="*/ 9751634 w 9751634"/>
              <a:gd name="connsiteY2" fmla="*/ 448606 h 2691581"/>
              <a:gd name="connsiteX3" fmla="*/ 9751634 w 9751634"/>
              <a:gd name="connsiteY3" fmla="*/ 2242975 h 2691581"/>
              <a:gd name="connsiteX4" fmla="*/ 9303028 w 9751634"/>
              <a:gd name="connsiteY4" fmla="*/ 2691581 h 2691581"/>
              <a:gd name="connsiteX5" fmla="*/ 448606 w 9751634"/>
              <a:gd name="connsiteY5" fmla="*/ 2691581 h 2691581"/>
              <a:gd name="connsiteX6" fmla="*/ 0 w 9751634"/>
              <a:gd name="connsiteY6" fmla="*/ 2242975 h 2691581"/>
              <a:gd name="connsiteX7" fmla="*/ 0 w 9751634"/>
              <a:gd name="connsiteY7" fmla="*/ 448606 h 2691581"/>
              <a:gd name="connsiteX8" fmla="*/ 448606 w 9751634"/>
              <a:gd name="connsiteY8" fmla="*/ 0 h 269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51634" h="2691581">
                <a:moveTo>
                  <a:pt x="448606" y="0"/>
                </a:moveTo>
                <a:lnTo>
                  <a:pt x="9303028" y="0"/>
                </a:lnTo>
                <a:cubicBezTo>
                  <a:pt x="9550786" y="0"/>
                  <a:pt x="9751634" y="200848"/>
                  <a:pt x="9751634" y="448606"/>
                </a:cubicBezTo>
                <a:lnTo>
                  <a:pt x="9751634" y="2242975"/>
                </a:lnTo>
                <a:cubicBezTo>
                  <a:pt x="9751634" y="2490733"/>
                  <a:pt x="9550786" y="2691581"/>
                  <a:pt x="9303028" y="2691581"/>
                </a:cubicBezTo>
                <a:lnTo>
                  <a:pt x="448606" y="2691581"/>
                </a:lnTo>
                <a:cubicBezTo>
                  <a:pt x="200848" y="2691581"/>
                  <a:pt x="0" y="2490733"/>
                  <a:pt x="0" y="2242975"/>
                </a:cubicBezTo>
                <a:lnTo>
                  <a:pt x="0" y="448606"/>
                </a:lnTo>
                <a:cubicBezTo>
                  <a:pt x="0" y="200848"/>
                  <a:pt x="200848" y="0"/>
                  <a:pt x="448606" y="0"/>
                </a:cubicBezTo>
                <a:close/>
              </a:path>
            </a:pathLst>
          </a:custGeom>
          <a:ln w="3175">
            <a:solidFill>
              <a:schemeClr val="bg1">
                <a:alpha val="85000"/>
              </a:schemeClr>
            </a:solidFill>
          </a:ln>
          <a:effectLst>
            <a:softEdge rad="0"/>
          </a:effec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B3377D0-79EE-4005-982B-2835D195E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835" y="963398"/>
            <a:ext cx="9751695" cy="2387600"/>
          </a:xfrm>
        </p:spPr>
        <p:txBody>
          <a:bodyPr anchor="ctr">
            <a:normAutofit/>
          </a:bodyPr>
          <a:lstStyle/>
          <a:p>
            <a:r>
              <a:rPr lang="ko-KR" altLang="en-US" sz="8800">
                <a:gradFill rotWithShape="1">
                  <a:gsLst>
                    <a:gs pos="0">
                      <a:srgbClr val="70D1FC"/>
                    </a:gs>
                    <a:gs pos="100000">
                      <a:srgbClr val="186CE8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rgbClr val="536395"/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스카이박스</a:t>
            </a:r>
            <a:r>
              <a:rPr lang="ko-KR" altLang="en-US" sz="8800"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 </a:t>
            </a:r>
            <a:r>
              <a:rPr lang="ko-KR" altLang="en-US" sz="8800">
                <a:gradFill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렌더링</a:t>
            </a:r>
            <a:r>
              <a:rPr lang="ko-KR" altLang="en-US" sz="8800">
                <a:solidFill>
                  <a:schemeClr val="accent1"/>
                </a:soli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 </a:t>
            </a:r>
            <a:endParaRPr lang="ko-KR" altLang="en-US" sz="8800">
              <a:gradFill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5400000" scaled="0"/>
              </a:gradFill>
              <a:effectLst>
                <a:outerShdw blurRad="50800" dist="50800" dir="3600000" algn="ctr" rotWithShape="0">
                  <a:schemeClr val="bg2">
                    <a:lumMod val="50000"/>
                  </a:schemeClr>
                </a:outerShdw>
              </a:effectLst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682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870" cy="1327150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sz="4400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스카이박스란?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870" cy="435292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914400" rtl="0" eaLnBrk="1" latinLnBrk="1" hangingPunct="1">
              <a:buFont typeface="한컴 말랑말랑 Regular"/>
              <a:buChar char="•"/>
            </a:pPr>
            <a:r>
              <a:rPr lang="ko-KR" sz="2800">
                <a:gradFill rotWithShape="1">
                  <a:gsLst>
                    <a:gs pos="0">
                      <a:srgbClr val="5A5D62"/>
                    </a:gs>
                    <a:gs pos="46000">
                      <a:srgbClr val="353758"/>
                    </a:gs>
                    <a:gs pos="100000">
                      <a:srgbClr val="CD89A8"/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원경</a:t>
            </a: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rgbClr val="4A4263"/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을</a:t>
            </a:r>
            <a:r>
              <a:rPr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 </a:t>
            </a: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표현</a:t>
            </a: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하기 위한</a:t>
            </a: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 커다란 박스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685800" lvl="1" indent="-228600" algn="l" defTabSz="914400" rtl="0" eaLnBrk="1" latinLnBrk="1" hangingPunct="1">
              <a:buFont typeface="한컴 말랑말랑 Regular"/>
              <a:buChar char="-"/>
            </a:pPr>
            <a:r>
              <a:rPr lang="ko-KR" sz="24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박스</a:t>
            </a:r>
            <a:r>
              <a:rPr 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 </a:t>
            </a:r>
            <a:r>
              <a:rPr lang="ko-KR" sz="24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안쪽</a:t>
            </a:r>
            <a:r>
              <a:rPr 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으로 카메라를 배치한 후 </a:t>
            </a:r>
            <a:r>
              <a:rPr lang="ko-KR" sz="24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박스를 카메라와 함께 이동</a:t>
            </a:r>
            <a:r>
              <a:rPr 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시켜 </a:t>
            </a:r>
            <a:r>
              <a:rPr lang="ko-KR" sz="24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원경을 표현</a:t>
            </a:r>
            <a:r>
              <a:rPr lang="ko-KR" sz="24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할 수 있음</a:t>
            </a:r>
            <a:endParaRPr lang="ko-KR" altLang="en-US" sz="24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516235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7" descr="C:/Users/minke/AppData/Roaming/PolarisOffice/ETemp/17080_18876920/image1.jp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920" y="3053080"/>
            <a:ext cx="1372235" cy="3658235"/>
          </a:xfrm>
          <a:prstGeom prst="rect">
            <a:avLst/>
          </a:prstGeom>
          <a:noFill/>
        </p:spPr>
      </p:pic>
      <p:pic>
        <p:nvPicPr>
          <p:cNvPr id="7" name="그림 8" descr="C:/Users/minke/AppData/Roaming/PolarisOffice/ETemp/17080_18876920/image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700" y="3016250"/>
            <a:ext cx="2197735" cy="3695065"/>
          </a:xfrm>
          <a:prstGeom prst="rect">
            <a:avLst/>
          </a:prstGeom>
          <a:noFill/>
        </p:spPr>
      </p:pic>
      <p:pic>
        <p:nvPicPr>
          <p:cNvPr id="8" name="그림 9" descr="C:/Users/minke/AppData/Roaming/PolarisOffice/ETemp/17080_18876920/image3.jp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845" y="3102610"/>
            <a:ext cx="2917190" cy="2914650"/>
          </a:xfrm>
          <a:prstGeom prst="rect">
            <a:avLst/>
          </a:prstGeom>
          <a:noFill/>
        </p:spPr>
      </p:pic>
      <p:pic>
        <p:nvPicPr>
          <p:cNvPr id="9" name="그림 10" descr="C:/Users/minke/AppData/Roaming/PolarisOffice/ETemp/17080_18876920/fImage3976426141.png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6480" y="5316855"/>
            <a:ext cx="1888490" cy="173228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 dir="l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sz="4400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커다란 상자를 그려야 하는데...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그림이 입혀진 상자</a:t>
            </a: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를 </a:t>
            </a:r>
            <a:r>
              <a:rPr lang="ko-KR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그리기 위해 필요한 것</a:t>
            </a: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을 알아야 한다.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추가로 </a:t>
            </a:r>
            <a:r>
              <a:rPr lang="ko-KR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원경을 표시할 그림</a:t>
            </a: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이 필요하다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685800" lvl="1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6개의 이미지를 구했다.	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607040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11" descr="C:/Users/minke/AppData/Roaming/PolarisOffice/ETemp/17080_18876920/fImage2061062684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895" y="3630930"/>
            <a:ext cx="1184910" cy="1187450"/>
          </a:xfrm>
          <a:prstGeom prst="rect">
            <a:avLst/>
          </a:prstGeom>
          <a:noFill/>
        </p:spPr>
      </p:pic>
      <p:pic>
        <p:nvPicPr>
          <p:cNvPr id="8" name="그림 12" descr="C:/Users/minke/AppData/Roaming/PolarisOffice/ETemp/17080_18876920/fImage219489269846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115" y="3629660"/>
            <a:ext cx="1184910" cy="1187450"/>
          </a:xfrm>
          <a:prstGeom prst="rect">
            <a:avLst/>
          </a:prstGeom>
          <a:noFill/>
        </p:spPr>
      </p:pic>
      <p:pic>
        <p:nvPicPr>
          <p:cNvPr id="9" name="그림 13" descr="C:/Users/minke/AppData/Roaming/PolarisOffice/ETemp/17080_18876920/fImage205649270633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785" y="3629025"/>
            <a:ext cx="1184910" cy="1187450"/>
          </a:xfrm>
          <a:prstGeom prst="rect">
            <a:avLst/>
          </a:prstGeom>
          <a:noFill/>
        </p:spPr>
      </p:pic>
      <p:pic>
        <p:nvPicPr>
          <p:cNvPr id="10" name="그림 14" descr="C:/Users/minke/AppData/Roaming/PolarisOffice/ETemp/17080_18876920/fImage2115822716500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700" y="3627755"/>
            <a:ext cx="1184910" cy="1187450"/>
          </a:xfrm>
          <a:prstGeom prst="rect">
            <a:avLst/>
          </a:prstGeom>
          <a:noFill/>
        </p:spPr>
      </p:pic>
      <p:pic>
        <p:nvPicPr>
          <p:cNvPr id="11" name="그림 15" descr="C:/Users/minke/AppData/Roaming/PolarisOffice/ETemp/17080_18876920/fImage2144812729169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470" y="3627120"/>
            <a:ext cx="1184910" cy="1187450"/>
          </a:xfrm>
          <a:prstGeom prst="rect">
            <a:avLst/>
          </a:prstGeom>
          <a:noFill/>
        </p:spPr>
      </p:pic>
      <p:pic>
        <p:nvPicPr>
          <p:cNvPr id="12" name="그림 16" descr="C:/Users/minke/AppData/Roaming/PolarisOffice/ETemp/17080_18876920/fImage2428132735724.png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205" y="3625850"/>
            <a:ext cx="1184910" cy="11874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sz="4400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텍스쳐 샘플링?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정점 버퍼</a:t>
            </a: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에 </a:t>
            </a:r>
            <a:r>
              <a:rPr lang="ko-KR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텍스쳐</a:t>
            </a: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 </a:t>
            </a:r>
            <a:r>
              <a:rPr lang="ko-KR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좌표</a:t>
            </a: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(UV좌표)를 입력해 놓고 텍스쳐 파일을 통해 필요한 </a:t>
            </a:r>
            <a:r>
              <a:rPr lang="ko-KR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픽셀을 가져오는 것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래스터라이저</a:t>
            </a: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 단계에서 </a:t>
            </a:r>
            <a:r>
              <a:rPr lang="ko-KR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보간된 UV값을 이용</a:t>
            </a: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하여 샘플링을 시도함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607040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도형 17"/>
          <p:cNvSpPr>
            <a:spLocks/>
          </p:cNvSpPr>
          <p:nvPr/>
        </p:nvSpPr>
        <p:spPr>
          <a:xfrm>
            <a:off x="4255135" y="5236845"/>
            <a:ext cx="151130" cy="1511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rtl="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7" name="도형 18"/>
          <p:cNvCxnSpPr>
            <a:cxnSpLocks/>
          </p:cNvCxnSpPr>
          <p:nvPr/>
        </p:nvCxnSpPr>
        <p:spPr>
          <a:xfrm>
            <a:off x="2835910" y="4839335"/>
            <a:ext cx="631190" cy="895985"/>
          </a:xfrm>
          <a:prstGeom prst="line">
            <a:avLst/>
          </a:prstGeom>
          <a:ln w="15875" cap="flat" cmpd="sng">
            <a:solidFill>
              <a:schemeClr val="accent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도형 19"/>
          <p:cNvCxnSpPr>
            <a:cxnSpLocks/>
          </p:cNvCxnSpPr>
          <p:nvPr/>
        </p:nvCxnSpPr>
        <p:spPr>
          <a:xfrm flipH="1" flipV="1">
            <a:off x="2829560" y="4839335"/>
            <a:ext cx="1503045" cy="477520"/>
          </a:xfrm>
          <a:prstGeom prst="line">
            <a:avLst/>
          </a:prstGeom>
          <a:ln w="15875" cap="flat" cmpd="sng">
            <a:solidFill>
              <a:schemeClr val="accent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도형 20"/>
          <p:cNvSpPr>
            <a:spLocks/>
          </p:cNvSpPr>
          <p:nvPr/>
        </p:nvSpPr>
        <p:spPr>
          <a:xfrm>
            <a:off x="2759710" y="4765675"/>
            <a:ext cx="151130" cy="1511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5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rtl="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10" name="도형 21"/>
          <p:cNvCxnSpPr>
            <a:cxnSpLocks/>
          </p:cNvCxnSpPr>
          <p:nvPr/>
        </p:nvCxnSpPr>
        <p:spPr>
          <a:xfrm flipH="1">
            <a:off x="3417570" y="5309235"/>
            <a:ext cx="921385" cy="366395"/>
          </a:xfrm>
          <a:prstGeom prst="line">
            <a:avLst/>
          </a:prstGeom>
          <a:ln w="15875" cap="flat" cmpd="sng">
            <a:solidFill>
              <a:schemeClr val="accent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도형 22"/>
          <p:cNvSpPr>
            <a:spLocks/>
          </p:cNvSpPr>
          <p:nvPr/>
        </p:nvSpPr>
        <p:spPr>
          <a:xfrm>
            <a:off x="3338830" y="5605780"/>
            <a:ext cx="151130" cy="15113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accent5">
                <a:lumMod val="50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rtl="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도형 23"/>
          <p:cNvSpPr>
            <a:spLocks/>
          </p:cNvSpPr>
          <p:nvPr/>
        </p:nvSpPr>
        <p:spPr>
          <a:xfrm>
            <a:off x="5436235" y="5139055"/>
            <a:ext cx="660400" cy="314325"/>
          </a:xfrm>
          <a:prstGeom prst="rightArrow">
            <a:avLst/>
          </a:prstGeom>
          <a:gradFill rotWithShape="1">
            <a:gsLst>
              <a:gs pos="0">
                <a:schemeClr val="bg1"/>
              </a:gs>
              <a:gs pos="0">
                <a:srgbClr val="D7F3F9"/>
              </a:gs>
              <a:gs pos="36000">
                <a:srgbClr val="A3E7FF"/>
              </a:gs>
              <a:gs pos="100000">
                <a:srgbClr val="00B0F0"/>
              </a:gs>
            </a:gsLst>
            <a:lin ang="5400000" scaled="1"/>
          </a:gradFill>
          <a:ln w="12700" cap="flat" cmpd="sng">
            <a:solidFill>
              <a:schemeClr val="bg2">
                <a:alpha val="100000"/>
              </a:schemeClr>
            </a:solidFill>
            <a:prstDash val="solid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rtl="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pic>
        <p:nvPicPr>
          <p:cNvPr id="13" name="그림 24" descr="C:/Users/minke/AppData/Roaming/PolarisOffice/ETemp/17080_18876920/fImage219489352147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465" y="4218305"/>
            <a:ext cx="2038350" cy="2037715"/>
          </a:xfrm>
          <a:prstGeom prst="rect">
            <a:avLst/>
          </a:prstGeom>
          <a:noFill/>
        </p:spPr>
      </p:pic>
      <p:sp>
        <p:nvSpPr>
          <p:cNvPr id="14" name="도형 34"/>
          <p:cNvSpPr>
            <a:spLocks/>
          </p:cNvSpPr>
          <p:nvPr/>
        </p:nvSpPr>
        <p:spPr>
          <a:xfrm>
            <a:off x="9142730" y="5308600"/>
            <a:ext cx="151130" cy="151130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rgbClr val="E80074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rtl="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15" name="도형 35"/>
          <p:cNvCxnSpPr>
            <a:cxnSpLocks/>
          </p:cNvCxnSpPr>
          <p:nvPr/>
        </p:nvCxnSpPr>
        <p:spPr>
          <a:xfrm>
            <a:off x="7723505" y="4911090"/>
            <a:ext cx="631190" cy="895985"/>
          </a:xfrm>
          <a:prstGeom prst="line">
            <a:avLst/>
          </a:prstGeom>
          <a:ln w="15875" cap="flat" cmpd="sng">
            <a:solidFill>
              <a:srgbClr val="FF0000">
                <a:alpha val="100000"/>
              </a:srgbClr>
            </a:solidFill>
            <a:prstDash val="sysDot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도형 36"/>
          <p:cNvCxnSpPr>
            <a:cxnSpLocks/>
          </p:cNvCxnSpPr>
          <p:nvPr/>
        </p:nvCxnSpPr>
        <p:spPr>
          <a:xfrm flipH="1" flipV="1">
            <a:off x="7717155" y="4911090"/>
            <a:ext cx="1503045" cy="477520"/>
          </a:xfrm>
          <a:prstGeom prst="line">
            <a:avLst/>
          </a:prstGeom>
          <a:ln w="15875" cap="flat" cmpd="sng">
            <a:solidFill>
              <a:srgbClr val="FF0000">
                <a:alpha val="100000"/>
              </a:srgbClr>
            </a:solidFill>
            <a:prstDash val="sysDot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도형 37"/>
          <p:cNvSpPr>
            <a:spLocks/>
          </p:cNvSpPr>
          <p:nvPr/>
        </p:nvSpPr>
        <p:spPr>
          <a:xfrm>
            <a:off x="7647305" y="4837430"/>
            <a:ext cx="151130" cy="151130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rgbClr val="E80074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rtl="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18" name="도형 38"/>
          <p:cNvCxnSpPr>
            <a:cxnSpLocks/>
          </p:cNvCxnSpPr>
          <p:nvPr/>
        </p:nvCxnSpPr>
        <p:spPr>
          <a:xfrm flipH="1">
            <a:off x="8305165" y="5380990"/>
            <a:ext cx="921385" cy="366395"/>
          </a:xfrm>
          <a:prstGeom prst="line">
            <a:avLst/>
          </a:prstGeom>
          <a:ln w="15875" cap="flat" cmpd="sng">
            <a:solidFill>
              <a:srgbClr val="FF0000">
                <a:alpha val="100000"/>
              </a:srgbClr>
            </a:solidFill>
            <a:prstDash val="sysDot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도형 39"/>
          <p:cNvSpPr>
            <a:spLocks/>
          </p:cNvSpPr>
          <p:nvPr/>
        </p:nvSpPr>
        <p:spPr>
          <a:xfrm>
            <a:off x="8226425" y="5677535"/>
            <a:ext cx="151130" cy="151130"/>
          </a:xfrm>
          <a:prstGeom prst="ellipse">
            <a:avLst/>
          </a:prstGeom>
          <a:solidFill>
            <a:srgbClr val="FF0000"/>
          </a:solidFill>
          <a:ln w="12700" cap="flat" cmpd="sng">
            <a:solidFill>
              <a:srgbClr val="E80074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defTabSz="914400" rtl="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1" animBg="1"/>
      <p:bldP spid="8" grpId="2" animBg="1"/>
      <p:bldP spid="9" grpId="3" animBg="1"/>
      <p:bldP spid="10" grpId="4" animBg="1"/>
      <p:bldP spid="11" grpId="5" animBg="1"/>
      <p:bldP spid="12" grpId="6" animBg="1"/>
      <p:bldP spid="14" grpId="7" animBg="1"/>
      <p:bldP spid="15" grpId="8" animBg="1"/>
      <p:bldP spid="16" grpId="9" animBg="1"/>
      <p:bldP spid="17" grpId="10" animBg="1"/>
      <p:bldP spid="18" grpId="11" animBg="1"/>
      <p:bldP spid="19" grpId="1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sz="4400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텍스쳐를 입힌 큐브를 렌더링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6면의 텍스쳐 로딩, 정점 버퍼 구현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Tx/>
              <a:buNone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607040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118" descr="C:/Users/minke/AppData/Roaming/PolarisOffice/ETemp/17080_18876920/fImage22095469446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625" y="2809875"/>
            <a:ext cx="4438650" cy="3750945"/>
          </a:xfrm>
          <a:prstGeom prst="rect">
            <a:avLst/>
          </a:prstGeom>
          <a:noFill/>
        </p:spPr>
      </p:pic>
      <p:pic>
        <p:nvPicPr>
          <p:cNvPr id="7" name="그림 119" descr="C:/Users/minke/AppData/Roaming/PolarisOffice/ETemp/17080_18876920/fImage41463470570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180" y="2809875"/>
            <a:ext cx="3560445" cy="3763010"/>
          </a:xfrm>
          <a:prstGeom prst="rect">
            <a:avLst/>
          </a:prstGeom>
          <a:noFill/>
        </p:spPr>
      </p:pic>
      <p:pic>
        <p:nvPicPr>
          <p:cNvPr id="8" name="그림 120" descr="C:/Users/minke/AppData/Roaming/PolarisOffice/ETemp/17080_18876920/fImage20064718145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735" y="2033270"/>
            <a:ext cx="1629410" cy="64833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sz="4400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텍스쳐를 입힌 큐브를 렌더링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870" cy="435292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샘플러를 설정하고 샘플링 방식의 디테일을 설정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</a:endParaRP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607040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54" descr="C:/Users/minke/AppData/Roaming/PolarisOffice/ETemp/20844_17369672/fImage2183683759358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20160" y="2543810"/>
            <a:ext cx="4553585" cy="2345690"/>
          </a:xfrm>
          <a:prstGeom prst="rect">
            <a:avLst/>
          </a:prstGeom>
          <a:noFill/>
        </p:spPr>
      </p:pic>
      <p:pic>
        <p:nvPicPr>
          <p:cNvPr id="9" name="그림 56" descr="C:/Users/minke/AppData/Roaming/PolarisOffice/ETemp/20844_17369672/fImage2413333786962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9870" y="4997450"/>
            <a:ext cx="6654800" cy="186944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sz="4400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텍스쳐를 입힌 큐브를 렌더링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sampleTX.Sample(linearSampler, input.Tex);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렌더링된 모습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607040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8" descr="C:/Users/minke/AppData/Roaming/PolarisOffice/ETemp/17080_18876920/fImage147194386328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750" y="2984500"/>
            <a:ext cx="4805680" cy="373634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sz="4400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큐브의 안쪽을 렌더링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인덱스를 뒤집거나, 래스터라이저의 컬링설정을 시계방향으로 바꿔준다.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Tx/>
              <a:buNone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607040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9" descr="C:/Users/minke/AppData/Roaming/PolarisOffice/ETemp/17080_18876920/fImage178822390682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455" y="2825750"/>
            <a:ext cx="4815840" cy="374713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sz="4400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큐브의 안쪽을 렌더링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기존에 그리려던 상자와 함께 그려보자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너무 작은데 ??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Tx/>
              <a:buNone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607040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6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160" y="2550795"/>
            <a:ext cx="3445510" cy="2688590"/>
          </a:xfrm>
          <a:prstGeom prst="rect">
            <a:avLst/>
          </a:prstGeom>
          <a:noFill/>
        </p:spPr>
      </p:pic>
      <p:pic>
        <p:nvPicPr>
          <p:cNvPr id="7" name="그림 6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550795"/>
            <a:ext cx="3450590" cy="2688590"/>
          </a:xfrm>
          <a:prstGeom prst="rect">
            <a:avLst/>
          </a:prstGeom>
          <a:noFill/>
        </p:spPr>
      </p:pic>
      <p:pic>
        <p:nvPicPr>
          <p:cNvPr id="8" name="그림 63" descr="C:/Users/minke/AppData/Roaming/PolarisOffice/ETemp/20844_17369672/fImage6824354012995.png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9620" y="2550795"/>
            <a:ext cx="3441065" cy="267906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sz="4400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주요 스테이지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크기를 키워보자   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607040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64" descr="C:/Users/minke/AppData/Roaming/PolarisOffice/ETemp/17080_18876920/fImage516700402194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7090" y="2433955"/>
            <a:ext cx="4885055" cy="3810635"/>
          </a:xfrm>
          <a:prstGeom prst="rect">
            <a:avLst/>
          </a:prstGeom>
          <a:noFill/>
        </p:spPr>
      </p:pic>
      <p:sp>
        <p:nvSpPr>
          <p:cNvPr id="7" name="내용 개체 틀 66"/>
          <p:cNvSpPr txBox="1">
            <a:spLocks noGrp="1"/>
          </p:cNvSpPr>
          <p:nvPr>
            <p:ph idx="1"/>
          </p:nvPr>
        </p:nvSpPr>
        <p:spPr>
          <a:xfrm>
            <a:off x="835660" y="6247130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잘린다   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sz="4400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깊이 조정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클립된 뷰공간</a:t>
            </a: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(NDC)에서 Z값이 </a:t>
            </a:r>
            <a:r>
              <a:rPr lang="ko-KR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0~1 사이의 숫자가 아닌 픽셀</a:t>
            </a: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은 래스터라이저에 의해 </a:t>
            </a:r>
            <a:r>
              <a:rPr lang="ko-KR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지워진다</a:t>
            </a: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.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스카이박스는 이러한 </a:t>
            </a:r>
            <a:r>
              <a:rPr lang="ko-KR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제약에서 벗어나야</a:t>
            </a: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 한다.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스카이박스를 </a:t>
            </a:r>
            <a:r>
              <a:rPr lang="ko-KR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단순하게 키우는 것은 의미가 없다</a:t>
            </a: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. 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스카이박스의 크기를 변경시키지 않고 픽셀 </a:t>
            </a:r>
            <a:r>
              <a:rPr lang="ko-KR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Z값을 강제로 0.99999...</a:t>
            </a: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로 맞춰두거나 뎁스버퍼의 설정에서 </a:t>
            </a:r>
            <a:r>
              <a:rPr lang="ko-KR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깊이 테스트는 켜두되 깊이 쓰기는 끄면</a:t>
            </a: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 된다. 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607040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sz="4400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깊이 조정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세이더 코드를 바꾸고 렌더링 해보자 (w = 투영행렬 이후의 뷰 공간의 z)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607040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68" descr="C:/Users/minke/AppData/Roaming/PolarisOffice/ETemp/17080_18876920/fImage19535412482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695" y="2633980"/>
            <a:ext cx="5134610" cy="3029585"/>
          </a:xfrm>
          <a:prstGeom prst="rect">
            <a:avLst/>
          </a:prstGeom>
          <a:noFill/>
        </p:spPr>
      </p:pic>
      <p:sp>
        <p:nvSpPr>
          <p:cNvPr id="7" name="도형 71"/>
          <p:cNvSpPr>
            <a:spLocks/>
          </p:cNvSpPr>
          <p:nvPr/>
        </p:nvSpPr>
        <p:spPr>
          <a:xfrm>
            <a:off x="3841750" y="4762500"/>
            <a:ext cx="3101340" cy="159385"/>
          </a:xfrm>
          <a:prstGeom prst="rect">
            <a:avLst/>
          </a:prstGeom>
          <a:solidFill>
            <a:schemeClr val="bg1">
              <a:alpha val="0"/>
            </a:schemeClr>
          </a:solidFill>
          <a:ln w="31750" cap="flat" cmpd="sng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sz="4400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깊이 조정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올바르게 그려진다.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607040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69" descr="C:/Users/minke/AppData/Roaming/PolarisOffice/ETemp/17080_18876920/fImage403764417543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955" y="2413635"/>
            <a:ext cx="5493385" cy="426529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sz="4400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현재 렌더링의 문제점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잘 그려졌지만 몇 가지 문제가 있다.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1. 텍스쳐 </a:t>
            </a:r>
            <a:r>
              <a:rPr lang="ko-KR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6개를 로딩</a:t>
            </a: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해야 함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2. </a:t>
            </a:r>
            <a:r>
              <a:rPr lang="ko-KR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실선</a:t>
            </a: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이 보임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3. 모서리에서 </a:t>
            </a:r>
            <a:r>
              <a:rPr lang="ko-KR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약간의 왜곡</a:t>
            </a: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이 있음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4. 너무 많은 </a:t>
            </a:r>
            <a:r>
              <a:rPr lang="ko-KR" sz="28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드로우콜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607040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96" descr="C:/Users/minke/AppData/Roaming/PolarisOffice/ETemp/17080_18876920/fImage231203425239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1480" y="2700655"/>
            <a:ext cx="4868545" cy="3345180"/>
          </a:xfrm>
          <a:prstGeom prst="rect">
            <a:avLst/>
          </a:prstGeom>
          <a:noFill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잉크 110"/>
              <p14:cNvContentPartPr/>
              <p14:nvPr/>
            </p14:nvContentPartPr>
            <p14:xfrm>
              <a:off x="6976110" y="3074670"/>
              <a:ext cx="1890395" cy="1333500"/>
            </p14:xfrm>
          </p:contentPart>
        </mc:Choice>
        <mc:Fallback xmlns="">
          <p:pic>
            <p:nvPicPr>
              <p:cNvPr id="13" name="잉크 11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76110" y="3074670"/>
                <a:ext cx="1890395" cy="133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잉크 111"/>
              <p14:cNvContentPartPr/>
              <p14:nvPr/>
            </p14:nvContentPartPr>
            <p14:xfrm>
              <a:off x="8901430" y="4503420"/>
              <a:ext cx="200660" cy="1504315"/>
            </p14:xfrm>
          </p:contentPart>
        </mc:Choice>
        <mc:Fallback xmlns="">
          <p:pic>
            <p:nvPicPr>
              <p:cNvPr id="14" name="잉크 11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01430" y="4503420"/>
                <a:ext cx="200660" cy="15043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잉크 112"/>
              <p14:cNvContentPartPr/>
              <p14:nvPr/>
            </p14:nvContentPartPr>
            <p14:xfrm>
              <a:off x="9227185" y="3451225"/>
              <a:ext cx="2266315" cy="956945"/>
            </p14:xfrm>
          </p:contentPart>
        </mc:Choice>
        <mc:Fallback xmlns="">
          <p:pic>
            <p:nvPicPr>
              <p:cNvPr id="15" name="잉크 11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27185" y="3451225"/>
                <a:ext cx="2266315" cy="956945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그림 117" descr="C:/Users/minke/AppData/Roaming/PolarisOffice/ETemp/17080_18876920/fImage8242463292.png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5052695"/>
            <a:ext cx="6003925" cy="7937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sz="4400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큐브맵 샘플링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더 정확하고 빠른 샘플링을 위해 UV좌표가아닌 3D방향 벡터를 이용한 샘플링을 적용해보자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Tx/>
              <a:buNone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607040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115" descr="C:/Users/minke/AppData/Roaming/PolarisOffice/ETemp/17080_18876920/fImage27689458238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625" y="3190875"/>
            <a:ext cx="3810635" cy="341058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sz="4400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Texassemble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870" cy="435292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DirectXTex 라이브러리의 툴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cube를 설정해서 큐브맵용 DDS를 만든다.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</a:rPr>
              <a:t>./texassemble cube -o skybox.dds posx.bmp negx.bmp posy.bmp negy.bmp posz.bmp negz.bmp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</a:endParaRP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607040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11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" y="4100195"/>
            <a:ext cx="2467610" cy="258000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sz="4400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큐브맵 리소스 로딩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메타데이터 체킹으로 큐브맵이 맞는지 확인해주는 코드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Tx/>
              <a:buNone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607040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124" descr="C:/Users/minke/AppData/Roaming/PolarisOffice/ETemp/17080_18876920/fImage14880479871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" y="3064510"/>
            <a:ext cx="10963910" cy="243713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sz="4400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큐브맵 셰이더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셰이더 코드에 큐브맵 샘플링을 적용시키자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Tx/>
              <a:buNone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607040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125" descr="C:/Users/minke/AppData/Roaming/PolarisOffice/ETemp/17080_18876920/fImage11300484971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75" y="2638425"/>
            <a:ext cx="5306695" cy="394652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sz="4400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드로우콜 변경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for문을 없애고 한줄 드로잉으로 바꾼다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Tx/>
              <a:buNone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607040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126" descr="C:/Users/minke/AppData/Roaming/PolarisOffice/ETemp/17080_18876920/fImage28919493544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120" y="2531745"/>
            <a:ext cx="9620885" cy="243903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sz="4400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완성!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스카이박스를 렌더링한다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Tx/>
              <a:buNone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607040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127" descr="C:/Users/minke/AppData/Roaming/PolarisOffice/ETemp/17080_18876920/fImage490633498172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430" y="2559685"/>
            <a:ext cx="5314950" cy="413194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sz="4400">
                <a:gradFill rotWithShape="1">
                  <a:gsLst>
                    <a:gs pos="21000">
                      <a:srgbClr val="007DD2"/>
                    </a:gs>
                    <a:gs pos="84000">
                      <a:srgbClr val="00B0F0"/>
                    </a:gs>
                  </a:gsLst>
                  <a:lin ang="5400000"/>
                </a:gradFill>
                <a:effectLst>
                  <a:outerShdw blurRad="50800" dist="50800" dir="5400000" algn="ctr" rotWithShape="0">
                    <a:schemeClr val="accent1">
                      <a:lumMod val="60000"/>
                      <a:lumOff val="40000"/>
                    </a:scheme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추가로 찾아본 문서들</a:t>
            </a:r>
            <a:endParaRPr lang="ko-KR" altLang="en-US" sz="4400">
              <a:gradFill rotWithShape="1">
                <a:gsLst>
                  <a:gs pos="21000">
                    <a:srgbClr val="007DD2"/>
                  </a:gs>
                  <a:gs pos="84000">
                    <a:srgbClr val="00B0F0"/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838200" y="1825625"/>
            <a:ext cx="10516235" cy="435229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 algn="l" defTabSz="914400" rtl="0" eaLnBrk="1" latinLnBrk="1" hangingPunct="1">
              <a:buFont typeface="Arial"/>
              <a:buChar char="•"/>
            </a:pPr>
            <a:r>
              <a:rPr lang="ko-KR" sz="2800">
                <a:gradFill rotWithShape="1">
                  <a:gsLst>
                    <a:gs pos="21000">
                      <a:srgbClr val="53575C"/>
                    </a:gs>
                    <a:gs pos="84000">
                      <a:schemeClr val="bg2">
                        <a:lumMod val="2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한컴 말랑말랑 Regular" charset="0"/>
                <a:ea typeface="한컴 말랑말랑 Regular" charset="0"/>
                <a:sym typeface="맑은 고딕" charset="0"/>
              </a:rPr>
              <a:t>도움이 될만한 큐브맵 자료</a:t>
            </a: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Tx/>
              <a:buNone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  <a:p>
            <a:pPr marL="228600" indent="-228600" algn="l" defTabSz="914400" rtl="0" eaLnBrk="1" latinLnBrk="1" hangingPunct="1">
              <a:buFont typeface="Arial"/>
              <a:buChar char="•"/>
            </a:pPr>
            <a:endParaRPr lang="ko-KR" altLang="en-US" sz="2800">
              <a:gradFill rotWithShape="1">
                <a:gsLst>
                  <a:gs pos="21000">
                    <a:srgbClr val="53575C"/>
                  </a:gs>
                  <a:gs pos="84000">
                    <a:schemeClr val="bg2">
                      <a:lumMod val="25000"/>
                    </a:schemeClr>
                  </a:gs>
                </a:gsLst>
                <a:lin ang="5400000"/>
              </a:gradFill>
              <a:latin typeface="한컴 말랑말랑 Regular" charset="0"/>
              <a:ea typeface="한컴 말랑말랑 Regular" charset="0"/>
              <a:sym typeface="맑은 고딕" charset="0"/>
            </a:endParaRPr>
          </a:p>
        </p:txBody>
      </p:sp>
      <p:cxnSp>
        <p:nvCxnSpPr>
          <p:cNvPr id="5" name="Rect 0"/>
          <p:cNvCxnSpPr>
            <a:cxnSpLocks/>
          </p:cNvCxnSpPr>
          <p:nvPr/>
        </p:nvCxnSpPr>
        <p:spPr>
          <a:xfrm>
            <a:off x="838200" y="1592580"/>
            <a:ext cx="10607040" cy="635"/>
          </a:xfrm>
          <a:prstGeom prst="line">
            <a:avLst/>
          </a:prstGeom>
          <a:ln w="38100" cap="rnd" cmpd="sng">
            <a:solidFill>
              <a:srgbClr val="00B0F0">
                <a:alpha val="100000"/>
              </a:srgbClr>
            </a:solidFill>
            <a:prstDash val="solid"/>
          </a:ln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상자 128"/>
          <p:cNvSpPr txBox="1">
            <a:spLocks/>
          </p:cNvSpPr>
          <p:nvPr/>
        </p:nvSpPr>
        <p:spPr>
          <a:xfrm>
            <a:off x="833120" y="2559685"/>
            <a:ext cx="4572635" cy="277495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0" indent="0" algn="l" hangingPunct="1"/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/>
              </a:rPr>
              <a:t>Isocube: Exploiting the Cubemap Hardware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pic>
        <p:nvPicPr>
          <p:cNvPr id="7" name="그림 129" descr="C:/Users/minke/AppData/Roaming/PolarisOffice/ETemp/17080_18876920/fImage1789145054771.gif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60" y="3155315"/>
            <a:ext cx="4608195" cy="2917190"/>
          </a:xfrm>
          <a:prstGeom prst="rect">
            <a:avLst/>
          </a:prstGeom>
          <a:noFill/>
        </p:spPr>
      </p:pic>
      <p:sp>
        <p:nvSpPr>
          <p:cNvPr id="8" name="텍스트 상자 130"/>
          <p:cNvSpPr txBox="1">
            <a:spLocks/>
          </p:cNvSpPr>
          <p:nvPr/>
        </p:nvSpPr>
        <p:spPr>
          <a:xfrm>
            <a:off x="7298690" y="2559685"/>
            <a:ext cx="4572635" cy="277495"/>
          </a:xfrm>
          <a:prstGeom prst="rect">
            <a:avLst/>
          </a:prstGeom>
          <a:noFill/>
        </p:spPr>
        <p:txBody>
          <a:bodyPr vert="horz" wrap="square" lIns="0" tIns="0" rIns="0" bIns="0" anchor="t">
            <a:spAutoFit/>
          </a:bodyPr>
          <a:lstStyle/>
          <a:p>
            <a:pPr marL="0" indent="0" algn="l" hangingPunct="1"/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4"/>
              </a:rPr>
              <a:t>LearnOpenGL - Cubemaps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pic>
        <p:nvPicPr>
          <p:cNvPr id="9" name="그림 131" descr="C:/Users/minke/AppData/Roaming/PolarisOffice/ETemp/17080_18876920/fImage3455595081538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50" y="3309620"/>
            <a:ext cx="4787265" cy="216281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ctrTitle"/>
          </p:nvPr>
        </p:nvSpPr>
        <p:spPr>
          <a:xfrm>
            <a:off x="1524000" y="1213485"/>
            <a:ext cx="9144635" cy="2388235"/>
          </a:xfrm>
          <a:prstGeom prst="rect">
            <a:avLst/>
          </a:prstGeom>
        </p:spPr>
        <p:txBody>
          <a:bodyPr vert="horz" wrap="square" lIns="91440" tIns="45720" rIns="91440" bIns="45720" numCol="1" anchor="b">
            <a:normAutofit/>
          </a:bodyPr>
          <a:lstStyle/>
          <a:p>
            <a:pPr marL="0" indent="0" algn="ctr" defTabSz="914400" rtl="0" eaLnBrk="1" latin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ko-KR" sz="6000">
                <a:gradFill rotWithShape="1">
                  <a:gsLst>
                    <a:gs pos="0">
                      <a:srgbClr val="70D1FC"/>
                    </a:gs>
                    <a:gs pos="100000">
                      <a:srgbClr val="186CE8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rgbClr val="536395"/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감사합니다</a:t>
            </a:r>
            <a:r>
              <a:rPr sz="6000">
                <a:solidFill>
                  <a:schemeClr val="accent1"/>
                </a:soli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 </a:t>
            </a:r>
            <a:r>
              <a:rPr sz="6000">
                <a:gradFill rotWithShape="1">
                  <a:gsLst>
                    <a:gs pos="21000">
                      <a:schemeClr val="tx1"/>
                    </a:gs>
                    <a:gs pos="84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 </a:t>
            </a:r>
            <a:endParaRPr lang="ko-KR" altLang="en-US" sz="6000">
              <a:latin typeface="맑은 고딕" charset="0"/>
              <a:ea typeface="맑은 고딕" charset="0"/>
              <a:cs typeface="+mj-cs"/>
            </a:endParaRPr>
          </a:p>
        </p:txBody>
      </p:sp>
      <p:sp>
        <p:nvSpPr>
          <p:cNvPr id="3" name="부제목 2"/>
          <p:cNvSpPr txBox="1">
            <a:spLocks noGrp="1"/>
          </p:cNvSpPr>
          <p:nvPr>
            <p:ph type="subTitle" idx="1"/>
          </p:nvPr>
        </p:nvSpPr>
        <p:spPr>
          <a:xfrm>
            <a:off x="1524000" y="3602355"/>
            <a:ext cx="9144635" cy="165608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0" indent="0">
              <a:buFontTx/>
              <a:buNone/>
            </a:pPr>
            <a:r>
              <a:rPr lang="ko-KR" sz="2400">
                <a:gradFill rotWithShape="1">
                  <a:gsLst>
                    <a:gs pos="21000">
                      <a:schemeClr val="tx1"/>
                    </a:gs>
                    <a:gs pos="84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- </a:t>
            </a:r>
            <a:r>
              <a:rPr sz="2400"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 </a:t>
            </a:r>
            <a:r>
              <a:rPr lang="ko-KR" sz="24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rgbClr val="A2466D"/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큐브맵 리소스 </a:t>
            </a:r>
            <a:r>
              <a:rPr lang="ko-KR" sz="2400">
                <a:gradFill rotWithShape="1">
                  <a:gsLst>
                    <a:gs pos="21000">
                      <a:schemeClr val="tx1"/>
                    </a:gs>
                    <a:gs pos="84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다루기 끝</a:t>
            </a:r>
            <a:r>
              <a:rPr sz="2400">
                <a:gradFill rotWithShape="1">
                  <a:gsLst>
                    <a:gs pos="0">
                      <a:srgbClr val="FF6D6D"/>
                    </a:gs>
                    <a:gs pos="100000">
                      <a:srgbClr val="E81845"/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rgbClr val="A2466D"/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 </a:t>
            </a:r>
            <a:r>
              <a:rPr lang="ko-KR" sz="2400">
                <a:gradFill rotWithShape="1">
                  <a:gsLst>
                    <a:gs pos="21000">
                      <a:schemeClr val="tx1"/>
                    </a:gs>
                    <a:gs pos="84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/>
                </a:gra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-</a:t>
            </a:r>
            <a:r>
              <a:rPr sz="2400">
                <a:solidFill>
                  <a:schemeClr val="accent1"/>
                </a:solidFill>
                <a:effectLst>
                  <a:outerShdw blurRad="50800" dist="50800" dir="3600000" algn="ctr" rotWithShape="0">
                    <a:schemeClr val="bg2">
                      <a:lumMod val="50000"/>
                    </a:schemeClr>
                  </a:outerShdw>
                </a:effectLst>
                <a:latin typeface="한컴 말랑말랑 Bold" charset="0"/>
                <a:ea typeface="한컴 말랑말랑 Bold" charset="0"/>
                <a:sym typeface="맑은 고딕" charset="0"/>
              </a:rPr>
              <a:t> </a:t>
            </a:r>
            <a:endParaRPr lang="ko-KR" altLang="en-US" sz="2400">
              <a:latin typeface="맑은 고딕" charset="0"/>
              <a:ea typeface="맑은 고딕" charset="0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Pages>22</Pages>
  <Words>358</Words>
  <Characters>0</Characters>
  <Application>Microsoft Office PowerPoint</Application>
  <DocSecurity>0</DocSecurity>
  <PresentationFormat>와이드스크린</PresentationFormat>
  <Lines>0</Lines>
  <Paragraphs>68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22</vt:i4>
      </vt:variant>
    </vt:vector>
  </HeadingPairs>
  <TitlesOfParts>
    <vt:vector size="30" baseType="lpstr">
      <vt:lpstr>Arial</vt:lpstr>
      <vt:lpstr>맑은 고딕</vt:lpstr>
      <vt:lpstr>한컴 말랑말랑 Bold</vt:lpstr>
      <vt:lpstr>한컴 말랑말랑 Regular</vt:lpstr>
      <vt:lpstr>Office 테마</vt:lpstr>
      <vt:lpstr>Office theme</vt:lpstr>
      <vt:lpstr>Office theme</vt:lpstr>
      <vt:lpstr>Office theme</vt:lpstr>
      <vt:lpstr>스카이박스 렌더링 </vt:lpstr>
      <vt:lpstr>스카이박스란?</vt:lpstr>
      <vt:lpstr>커다란 상자를 그려야 하는데...</vt:lpstr>
      <vt:lpstr>텍스쳐 샘플링?</vt:lpstr>
      <vt:lpstr>텍스쳐를 입힌 큐브를 렌더링</vt:lpstr>
      <vt:lpstr>텍스쳐를 입힌 큐브를 렌더링</vt:lpstr>
      <vt:lpstr>텍스쳐를 입힌 큐브를 렌더링</vt:lpstr>
      <vt:lpstr>큐브의 안쪽을 렌더링</vt:lpstr>
      <vt:lpstr>큐브의 안쪽을 렌더링</vt:lpstr>
      <vt:lpstr>주요 스테이지</vt:lpstr>
      <vt:lpstr>깊이 조정</vt:lpstr>
      <vt:lpstr>깊이 조정</vt:lpstr>
      <vt:lpstr>깊이 조정</vt:lpstr>
      <vt:lpstr>현재 렌더링의 문제점</vt:lpstr>
      <vt:lpstr>큐브맵 샘플링</vt:lpstr>
      <vt:lpstr>Texassemble</vt:lpstr>
      <vt:lpstr>큐브맵 리소스 로딩</vt:lpstr>
      <vt:lpstr>큐브맵 셰이더</vt:lpstr>
      <vt:lpstr>드로우콜 변경</vt:lpstr>
      <vt:lpstr>완성!</vt:lpstr>
      <vt:lpstr>추가로 찾아본 문서들</vt:lpstr>
      <vt:lpstr>감사합니다  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스카이박스 렌더링</dc:title>
  <dc:creator>User</dc:creator>
  <cp:lastModifiedBy>User</cp:lastModifiedBy>
  <cp:revision>4</cp:revision>
  <dcterms:modified xsi:type="dcterms:W3CDTF">2025-09-22T01:07:44Z</dcterms:modified>
  <cp:version>10.105.280.55985</cp:version>
</cp:coreProperties>
</file>